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70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81311-8EBD-4D12-A889-93137545F7F3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CBFEF-22DF-4A07-A5AD-BEFA941E25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8698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81311-8EBD-4D12-A889-93137545F7F3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CBFEF-22DF-4A07-A5AD-BEFA941E25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470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81311-8EBD-4D12-A889-93137545F7F3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CBFEF-22DF-4A07-A5AD-BEFA941E25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564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81311-8EBD-4D12-A889-93137545F7F3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CBFEF-22DF-4A07-A5AD-BEFA941E25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6206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81311-8EBD-4D12-A889-93137545F7F3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CBFEF-22DF-4A07-A5AD-BEFA941E25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891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81311-8EBD-4D12-A889-93137545F7F3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CBFEF-22DF-4A07-A5AD-BEFA941E25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458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81311-8EBD-4D12-A889-93137545F7F3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CBFEF-22DF-4A07-A5AD-BEFA941E25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933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81311-8EBD-4D12-A889-93137545F7F3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CBFEF-22DF-4A07-A5AD-BEFA941E25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3280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81311-8EBD-4D12-A889-93137545F7F3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CBFEF-22DF-4A07-A5AD-BEFA941E25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9192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81311-8EBD-4D12-A889-93137545F7F3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CBFEF-22DF-4A07-A5AD-BEFA941E25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4863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81311-8EBD-4D12-A889-93137545F7F3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CBFEF-22DF-4A07-A5AD-BEFA941E25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7763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E81311-8EBD-4D12-A889-93137545F7F3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8CBFEF-22DF-4A07-A5AD-BEFA941E25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1603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solidFill>
            <a:srgbClr val="1F3A5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0" y="6261100"/>
            <a:ext cx="3810000" cy="596900"/>
          </a:xfrm>
          <a:prstGeom prst="rect">
            <a:avLst/>
          </a:prstGeom>
          <a:solidFill>
            <a:srgbClr val="F5A6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444500" y="1206500"/>
            <a:ext cx="2921000" cy="29238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4600" b="1" smtClean="0">
                <a:solidFill>
                  <a:srgbClr val="FFFFFF"/>
                </a:solidFill>
                <a:latin typeface="Poppins"/>
              </a:rPr>
              <a:t>Auction</a:t>
            </a:r>
          </a:p>
          <a:p>
            <a:r>
              <a:rPr lang="en-IN" sz="4600" b="1" smtClean="0">
                <a:solidFill>
                  <a:srgbClr val="FFFFFF"/>
                </a:solidFill>
                <a:latin typeface="Poppins"/>
              </a:rPr>
              <a:t>Management</a:t>
            </a:r>
          </a:p>
          <a:p>
            <a:r>
              <a:rPr lang="en-IN" sz="4600" b="1" smtClean="0">
                <a:solidFill>
                  <a:srgbClr val="FFFFFF"/>
                </a:solidFill>
                <a:latin typeface="Poppins"/>
              </a:rPr>
              <a:t>System</a:t>
            </a:r>
            <a:endParaRPr lang="en-IN" sz="4600" b="1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18000" y="939800"/>
            <a:ext cx="7112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300" b="1" smtClean="0">
                <a:solidFill>
                  <a:srgbClr val="1F3A5F"/>
                </a:solidFill>
                <a:latin typeface="Montserrat"/>
              </a:rPr>
              <a:t>Software Engineering Project Presentation</a:t>
            </a:r>
            <a:endParaRPr lang="en-IN" sz="2300" b="1">
              <a:solidFill>
                <a:srgbClr val="1F3A5F"/>
              </a:solidFill>
              <a:latin typeface="Montserra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45000" y="1841500"/>
            <a:ext cx="6604000" cy="150810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mtClean="0">
                <a:solidFill>
                  <a:srgbClr val="1E2A36"/>
                </a:solidFill>
                <a:latin typeface="Calibri" panose="020F0502020204030204" pitchFamily="34" charset="0"/>
              </a:rPr>
              <a:t>- Presenter: [Your Name]</a:t>
            </a:r>
          </a:p>
          <a:p>
            <a:pPr>
              <a:spcAft>
                <a:spcPts val="800"/>
              </a:spcAft>
            </a:pPr>
            <a:r>
              <a:rPr lang="en-US" smtClean="0">
                <a:solidFill>
                  <a:srgbClr val="1E2A36"/>
                </a:solidFill>
                <a:latin typeface="Calibri" panose="020F0502020204030204" pitchFamily="34" charset="0"/>
              </a:rPr>
              <a:t>- Course: [Course Name / Code]</a:t>
            </a:r>
          </a:p>
          <a:p>
            <a:pPr>
              <a:spcAft>
                <a:spcPts val="800"/>
              </a:spcAft>
            </a:pPr>
            <a:r>
              <a:rPr lang="en-US" smtClean="0">
                <a:solidFill>
                  <a:srgbClr val="1E2A36"/>
                </a:solidFill>
                <a:latin typeface="Calibri" panose="020F0502020204030204" pitchFamily="34" charset="0"/>
              </a:rPr>
              <a:t>- Institution: [Institution Name]</a:t>
            </a:r>
          </a:p>
          <a:p>
            <a:pPr>
              <a:spcAft>
                <a:spcPts val="800"/>
              </a:spcAft>
            </a:pPr>
            <a:r>
              <a:rPr lang="en-US" smtClean="0">
                <a:solidFill>
                  <a:srgbClr val="1E2A36"/>
                </a:solidFill>
                <a:latin typeface="Calibri" panose="020F0502020204030204" pitchFamily="34" charset="0"/>
              </a:rPr>
              <a:t>- Date: April 20, 2026</a:t>
            </a:r>
            <a:endParaRPr lang="en-IN">
              <a:solidFill>
                <a:srgbClr val="1E2A36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 rot="-1500000">
            <a:off x="9271000" y="3962400"/>
            <a:ext cx="1905000" cy="177800"/>
          </a:xfrm>
          <a:prstGeom prst="roundRect">
            <a:avLst/>
          </a:prstGeom>
          <a:solidFill>
            <a:srgbClr val="1F3A5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 rot="-1500000">
            <a:off x="8509000" y="3352800"/>
            <a:ext cx="1092200" cy="355600"/>
          </a:xfrm>
          <a:prstGeom prst="rect">
            <a:avLst/>
          </a:prstGeom>
          <a:solidFill>
            <a:srgbClr val="F5A6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 rot="-1500000">
            <a:off x="9169400" y="3022600"/>
            <a:ext cx="1092200" cy="355600"/>
          </a:xfrm>
          <a:prstGeom prst="rect">
            <a:avLst/>
          </a:prstGeom>
          <a:solidFill>
            <a:srgbClr val="F5A6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ounded Rectangle 9"/>
          <p:cNvSpPr/>
          <p:nvPr/>
        </p:nvSpPr>
        <p:spPr>
          <a:xfrm>
            <a:off x="8445500" y="4699000"/>
            <a:ext cx="2413000" cy="228600"/>
          </a:xfrm>
          <a:prstGeom prst="roundRect">
            <a:avLst/>
          </a:prstGeom>
          <a:solidFill>
            <a:srgbClr val="4DA3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7259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0" y="533400"/>
            <a:ext cx="12192000" cy="38100"/>
          </a:xfrm>
          <a:prstGeom prst="rect">
            <a:avLst/>
          </a:prstGeom>
          <a:solidFill>
            <a:srgbClr val="4DA3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508000" y="101600"/>
            <a:ext cx="965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 smtClean="0">
                <a:solidFill>
                  <a:srgbClr val="1F3A5F"/>
                </a:solidFill>
                <a:latin typeface="Poppins"/>
              </a:rPr>
              <a:t>2. Introduction</a:t>
            </a:r>
            <a:endParaRPr lang="en-IN" sz="2400" b="1">
              <a:solidFill>
                <a:srgbClr val="1F3A5F"/>
              </a:solidFill>
              <a:latin typeface="Poppi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39500" y="127000"/>
            <a:ext cx="698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200" b="1" smtClean="0">
                <a:solidFill>
                  <a:srgbClr val="1F3A5F"/>
                </a:solidFill>
                <a:latin typeface="Calibri" panose="020F0502020204030204" pitchFamily="34" charset="0"/>
              </a:rPr>
              <a:t>2/10</a:t>
            </a:r>
            <a:endParaRPr lang="en-IN" sz="1200" b="1">
              <a:solidFill>
                <a:srgbClr val="1F3A5F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8500" y="990600"/>
            <a:ext cx="6159500" cy="223138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700" smtClean="0">
                <a:solidFill>
                  <a:srgbClr val="1E2A36"/>
                </a:solidFill>
                <a:latin typeface="Calibri" panose="020F0502020204030204" pitchFamily="34" charset="0"/>
              </a:rPr>
              <a:t>- An Auction Management System is a web-based platform for conducting online auctions.</a:t>
            </a:r>
          </a:p>
          <a:p>
            <a:pPr>
              <a:spcAft>
                <a:spcPts val="800"/>
              </a:spcAft>
            </a:pPr>
            <a:r>
              <a:rPr lang="en-US" sz="1700" smtClean="0">
                <a:solidFill>
                  <a:srgbClr val="1E2A36"/>
                </a:solidFill>
                <a:latin typeface="Calibri" panose="020F0502020204030204" pitchFamily="34" charset="0"/>
              </a:rPr>
              <a:t>- Sellers can list auction items with details, reserve prices, and timelines.</a:t>
            </a:r>
          </a:p>
          <a:p>
            <a:pPr>
              <a:spcAft>
                <a:spcPts val="800"/>
              </a:spcAft>
            </a:pPr>
            <a:r>
              <a:rPr lang="en-US" sz="1700" smtClean="0">
                <a:solidFill>
                  <a:srgbClr val="1E2A36"/>
                </a:solidFill>
                <a:latin typeface="Calibri" panose="020F0502020204030204" pitchFamily="34" charset="0"/>
              </a:rPr>
              <a:t>- Buyers can place competitive bids online from any location.</a:t>
            </a:r>
          </a:p>
          <a:p>
            <a:pPr>
              <a:spcAft>
                <a:spcPts val="800"/>
              </a:spcAft>
            </a:pPr>
            <a:r>
              <a:rPr lang="en-US" sz="1700" smtClean="0">
                <a:solidFill>
                  <a:srgbClr val="1E2A36"/>
                </a:solidFill>
                <a:latin typeface="Calibri" panose="020F0502020204030204" pitchFamily="34" charset="0"/>
              </a:rPr>
              <a:t>- The platform improves transparency, automation, and operational efficiency.</a:t>
            </a:r>
            <a:endParaRPr lang="en-IN" sz="1700">
              <a:solidFill>
                <a:srgbClr val="1E2A36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02500" y="1143000"/>
            <a:ext cx="4191000" cy="1206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/>
          <p:cNvSpPr/>
          <p:nvPr/>
        </p:nvSpPr>
        <p:spPr>
          <a:xfrm>
            <a:off x="7493000" y="1346200"/>
            <a:ext cx="431800" cy="431800"/>
          </a:xfrm>
          <a:prstGeom prst="ellipse">
            <a:avLst/>
          </a:prstGeom>
          <a:solidFill>
            <a:srgbClr val="1F3A5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7493000" y="1422400"/>
            <a:ext cx="4318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100" b="1" smtClean="0">
                <a:solidFill>
                  <a:srgbClr val="FFFFFF"/>
                </a:solidFill>
                <a:latin typeface="Montserrat"/>
              </a:rPr>
              <a:t>TR</a:t>
            </a:r>
            <a:endParaRPr lang="en-IN" sz="1100" b="1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26400" y="1257300"/>
            <a:ext cx="32385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400" b="1" smtClean="0">
                <a:solidFill>
                  <a:srgbClr val="1F3A5F"/>
                </a:solidFill>
                <a:latin typeface="Poppins"/>
              </a:rPr>
              <a:t>Transparent Process</a:t>
            </a:r>
            <a:endParaRPr lang="en-IN" sz="1400" b="1">
              <a:solidFill>
                <a:srgbClr val="1F3A5F"/>
              </a:solidFill>
              <a:latin typeface="Poppi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26400" y="1536700"/>
            <a:ext cx="32385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smtClean="0">
                <a:solidFill>
                  <a:srgbClr val="1E2A36"/>
                </a:solidFill>
                <a:latin typeface="Calibri" panose="020F0502020204030204" pitchFamily="34" charset="0"/>
              </a:rPr>
              <a:t>Bids are visible and traceable during each auction.</a:t>
            </a:r>
            <a:endParaRPr lang="en-IN" sz="1200">
              <a:solidFill>
                <a:srgbClr val="1E2A36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02500" y="2514600"/>
            <a:ext cx="4191000" cy="1206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/>
          <p:cNvSpPr/>
          <p:nvPr/>
        </p:nvSpPr>
        <p:spPr>
          <a:xfrm>
            <a:off x="7493000" y="2717800"/>
            <a:ext cx="431800" cy="431800"/>
          </a:xfrm>
          <a:prstGeom prst="ellipse">
            <a:avLst/>
          </a:prstGeom>
          <a:solidFill>
            <a:srgbClr val="4DA3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7493000" y="2794000"/>
            <a:ext cx="4318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100" b="1" smtClean="0">
                <a:solidFill>
                  <a:srgbClr val="FFFFFF"/>
                </a:solidFill>
                <a:latin typeface="Montserrat"/>
              </a:rPr>
              <a:t>AU</a:t>
            </a:r>
            <a:endParaRPr lang="en-IN" sz="1100" b="1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26400" y="2628900"/>
            <a:ext cx="32385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400" b="1" smtClean="0">
                <a:solidFill>
                  <a:srgbClr val="1F3A5F"/>
                </a:solidFill>
                <a:latin typeface="Poppins"/>
              </a:rPr>
              <a:t>Automated Operations</a:t>
            </a:r>
            <a:endParaRPr lang="en-IN" sz="1400" b="1">
              <a:solidFill>
                <a:srgbClr val="1F3A5F"/>
              </a:solidFill>
              <a:latin typeface="Poppi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26400" y="2908300"/>
            <a:ext cx="32385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smtClean="0">
                <a:solidFill>
                  <a:srgbClr val="1E2A36"/>
                </a:solidFill>
                <a:latin typeface="Calibri" panose="020F0502020204030204" pitchFamily="34" charset="0"/>
              </a:rPr>
              <a:t>Timer control, bid updates, and winner selection are automatic.</a:t>
            </a:r>
            <a:endParaRPr lang="en-IN" sz="1200">
              <a:solidFill>
                <a:srgbClr val="1E2A36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302500" y="3886200"/>
            <a:ext cx="4191000" cy="1206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/>
          <p:cNvSpPr/>
          <p:nvPr/>
        </p:nvSpPr>
        <p:spPr>
          <a:xfrm>
            <a:off x="7493000" y="4089400"/>
            <a:ext cx="431800" cy="431800"/>
          </a:xfrm>
          <a:prstGeom prst="ellipse">
            <a:avLst/>
          </a:prstGeom>
          <a:solidFill>
            <a:srgbClr val="F5A6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/>
          <p:cNvSpPr txBox="1"/>
          <p:nvPr/>
        </p:nvSpPr>
        <p:spPr>
          <a:xfrm>
            <a:off x="7493000" y="4165600"/>
            <a:ext cx="4318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100" b="1" smtClean="0">
                <a:solidFill>
                  <a:srgbClr val="FFFFFF"/>
                </a:solidFill>
                <a:latin typeface="Montserrat"/>
              </a:rPr>
              <a:t>EF</a:t>
            </a:r>
            <a:endParaRPr lang="en-IN" sz="1100" b="1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026400" y="4000500"/>
            <a:ext cx="32385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400" b="1" smtClean="0">
                <a:solidFill>
                  <a:srgbClr val="1F3A5F"/>
                </a:solidFill>
                <a:latin typeface="Poppins"/>
              </a:rPr>
              <a:t>Higher Efficiency</a:t>
            </a:r>
            <a:endParaRPr lang="en-IN" sz="1400" b="1">
              <a:solidFill>
                <a:srgbClr val="1F3A5F"/>
              </a:solidFill>
              <a:latin typeface="Poppi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026400" y="4279900"/>
            <a:ext cx="32385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smtClean="0">
                <a:solidFill>
                  <a:srgbClr val="1E2A36"/>
                </a:solidFill>
                <a:latin typeface="Calibri" panose="020F0502020204030204" pitchFamily="34" charset="0"/>
              </a:rPr>
              <a:t>Less manual effort and better scalability for many auctions.</a:t>
            </a:r>
            <a:endParaRPr lang="en-IN" sz="1200">
              <a:solidFill>
                <a:srgbClr val="1E2A36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459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0" y="533400"/>
            <a:ext cx="12192000" cy="38100"/>
          </a:xfrm>
          <a:prstGeom prst="rect">
            <a:avLst/>
          </a:prstGeom>
          <a:solidFill>
            <a:srgbClr val="4DA3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508000" y="101600"/>
            <a:ext cx="965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 smtClean="0">
                <a:solidFill>
                  <a:srgbClr val="1F3A5F"/>
                </a:solidFill>
                <a:latin typeface="Poppins"/>
              </a:rPr>
              <a:t>3. Problem Statement</a:t>
            </a:r>
            <a:endParaRPr lang="en-IN" sz="2400" b="1">
              <a:solidFill>
                <a:srgbClr val="1F3A5F"/>
              </a:solidFill>
              <a:latin typeface="Poppi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39500" y="127000"/>
            <a:ext cx="698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200" b="1" smtClean="0">
                <a:solidFill>
                  <a:srgbClr val="1F3A5F"/>
                </a:solidFill>
                <a:latin typeface="Calibri" panose="020F0502020204030204" pitchFamily="34" charset="0"/>
              </a:rPr>
              <a:t>3/10</a:t>
            </a:r>
            <a:endParaRPr lang="en-IN" sz="1200" b="1">
              <a:solidFill>
                <a:srgbClr val="1F3A5F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98500" y="1143000"/>
            <a:ext cx="10795000" cy="3937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1016000" y="1524000"/>
            <a:ext cx="10096500" cy="150810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mtClean="0">
                <a:solidFill>
                  <a:srgbClr val="1E2A36"/>
                </a:solidFill>
                <a:latin typeface="Calibri" panose="020F0502020204030204" pitchFamily="34" charset="0"/>
              </a:rPr>
              <a:t>- Traditional auctions require physical presence, reducing participation and reach.</a:t>
            </a:r>
          </a:p>
          <a:p>
            <a:pPr>
              <a:spcAft>
                <a:spcPts val="800"/>
              </a:spcAft>
            </a:pPr>
            <a:r>
              <a:rPr lang="en-US" smtClean="0">
                <a:solidFill>
                  <a:srgbClr val="1E2A36"/>
                </a:solidFill>
                <a:latin typeface="Calibri" panose="020F0502020204030204" pitchFamily="34" charset="0"/>
              </a:rPr>
              <a:t>- Managing bidders and bid records manually is difficult and error-prone.</a:t>
            </a:r>
          </a:p>
          <a:p>
            <a:pPr>
              <a:spcAft>
                <a:spcPts val="800"/>
              </a:spcAft>
            </a:pPr>
            <a:r>
              <a:rPr lang="en-US" smtClean="0">
                <a:solidFill>
                  <a:srgbClr val="1E2A36"/>
                </a:solidFill>
                <a:latin typeface="Calibri" panose="020F0502020204030204" pitchFamily="34" charset="0"/>
              </a:rPr>
              <a:t>- Manual handling often causes delays, inconsistency, and data inaccuracies.</a:t>
            </a:r>
          </a:p>
          <a:p>
            <a:pPr>
              <a:spcAft>
                <a:spcPts val="800"/>
              </a:spcAft>
            </a:pPr>
            <a:r>
              <a:rPr lang="en-US" smtClean="0">
                <a:solidFill>
                  <a:srgbClr val="1E2A36"/>
                </a:solidFill>
                <a:latin typeface="Calibri" panose="020F0502020204030204" pitchFamily="34" charset="0"/>
              </a:rPr>
              <a:t>- Limited transparency can reduce trust among buyers, sellers, and organizers.</a:t>
            </a:r>
            <a:endParaRPr lang="en-IN">
              <a:solidFill>
                <a:srgbClr val="1E2A36"/>
              </a:solidFill>
              <a:latin typeface="Calibri" panose="020F0502020204030204" pitchFamily="34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1079500" y="5232400"/>
            <a:ext cx="457200" cy="457200"/>
          </a:xfrm>
          <a:prstGeom prst="ellipse">
            <a:avLst/>
          </a:prstGeom>
          <a:solidFill>
            <a:srgbClr val="F5A6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1079500" y="5346700"/>
            <a:ext cx="4572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000" b="1" smtClean="0">
                <a:solidFill>
                  <a:srgbClr val="FFFFFF"/>
                </a:solidFill>
                <a:latin typeface="Montserrat"/>
              </a:rPr>
              <a:t>PH</a:t>
            </a:r>
            <a:endParaRPr lang="en-IN" sz="1000" b="1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0" name="Oval 9"/>
          <p:cNvSpPr/>
          <p:nvPr/>
        </p:nvSpPr>
        <p:spPr>
          <a:xfrm>
            <a:off x="2667000" y="5232400"/>
            <a:ext cx="457200" cy="457200"/>
          </a:xfrm>
          <a:prstGeom prst="ellipse">
            <a:avLst/>
          </a:prstGeom>
          <a:solidFill>
            <a:srgbClr val="4DA3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2667000" y="5346700"/>
            <a:ext cx="4572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000" b="1" smtClean="0">
                <a:solidFill>
                  <a:srgbClr val="FFFFFF"/>
                </a:solidFill>
                <a:latin typeface="Montserrat"/>
              </a:rPr>
              <a:t>MG</a:t>
            </a:r>
            <a:endParaRPr lang="en-IN" sz="1000" b="1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4254500" y="5232400"/>
            <a:ext cx="457200" cy="457200"/>
          </a:xfrm>
          <a:prstGeom prst="ellipse">
            <a:avLst/>
          </a:prstGeom>
          <a:solidFill>
            <a:srgbClr val="F5A6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4254500" y="5346700"/>
            <a:ext cx="4572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000" b="1" smtClean="0">
                <a:solidFill>
                  <a:srgbClr val="FFFFFF"/>
                </a:solidFill>
                <a:latin typeface="Montserrat"/>
              </a:rPr>
              <a:t>ER</a:t>
            </a:r>
            <a:endParaRPr lang="en-IN" sz="1000" b="1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842000" y="5232400"/>
            <a:ext cx="457200" cy="457200"/>
          </a:xfrm>
          <a:prstGeom prst="ellipse">
            <a:avLst/>
          </a:prstGeom>
          <a:solidFill>
            <a:srgbClr val="4DA3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/>
          <p:cNvSpPr txBox="1"/>
          <p:nvPr/>
        </p:nvSpPr>
        <p:spPr>
          <a:xfrm>
            <a:off x="5842000" y="5346700"/>
            <a:ext cx="4572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000" b="1" smtClean="0">
                <a:solidFill>
                  <a:srgbClr val="FFFFFF"/>
                </a:solidFill>
                <a:latin typeface="Montserrat"/>
              </a:rPr>
              <a:t>TR</a:t>
            </a:r>
            <a:endParaRPr lang="en-IN" sz="1000" b="1">
              <a:solidFill>
                <a:srgbClr val="FFFFFF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579873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0" y="533400"/>
            <a:ext cx="12192000" cy="38100"/>
          </a:xfrm>
          <a:prstGeom prst="rect">
            <a:avLst/>
          </a:prstGeom>
          <a:solidFill>
            <a:srgbClr val="4DA3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508000" y="101600"/>
            <a:ext cx="965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 smtClean="0">
                <a:solidFill>
                  <a:srgbClr val="1F3A5F"/>
                </a:solidFill>
                <a:latin typeface="Poppins"/>
              </a:rPr>
              <a:t>4. Objectives</a:t>
            </a:r>
            <a:endParaRPr lang="en-IN" sz="2400" b="1">
              <a:solidFill>
                <a:srgbClr val="1F3A5F"/>
              </a:solidFill>
              <a:latin typeface="Poppi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39500" y="127000"/>
            <a:ext cx="698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200" b="1" smtClean="0">
                <a:solidFill>
                  <a:srgbClr val="1F3A5F"/>
                </a:solidFill>
                <a:latin typeface="Calibri" panose="020F0502020204030204" pitchFamily="34" charset="0"/>
              </a:rPr>
              <a:t>4/10</a:t>
            </a:r>
            <a:endParaRPr lang="en-IN" sz="1200" b="1">
              <a:solidFill>
                <a:srgbClr val="1F3A5F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89000" y="1117600"/>
            <a:ext cx="10414000" cy="711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/>
          <p:cNvSpPr/>
          <p:nvPr/>
        </p:nvSpPr>
        <p:spPr>
          <a:xfrm>
            <a:off x="1066800" y="1244600"/>
            <a:ext cx="431800" cy="431800"/>
          </a:xfrm>
          <a:prstGeom prst="ellipse">
            <a:avLst/>
          </a:prstGeom>
          <a:solidFill>
            <a:srgbClr val="1F3A5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1066800" y="1346200"/>
            <a:ext cx="4318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100" b="1" smtClean="0">
                <a:solidFill>
                  <a:srgbClr val="FFFFFF"/>
                </a:solidFill>
                <a:latin typeface="Montserrat"/>
              </a:rPr>
              <a:t>1</a:t>
            </a:r>
            <a:endParaRPr lang="en-IN" sz="1100" b="1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25600" y="1320800"/>
            <a:ext cx="9271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 smtClean="0">
                <a:solidFill>
                  <a:srgbClr val="1E2A36"/>
                </a:solidFill>
                <a:latin typeface="Calibri" panose="020F0502020204030204" pitchFamily="34" charset="0"/>
              </a:rPr>
              <a:t>Develop a secure and reliable auction platform.</a:t>
            </a:r>
            <a:endParaRPr lang="en-IN" sz="1700">
              <a:solidFill>
                <a:srgbClr val="1E2A36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89000" y="1968500"/>
            <a:ext cx="10414000" cy="711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/>
          <p:cNvSpPr/>
          <p:nvPr/>
        </p:nvSpPr>
        <p:spPr>
          <a:xfrm>
            <a:off x="1066800" y="2095500"/>
            <a:ext cx="431800" cy="431800"/>
          </a:xfrm>
          <a:prstGeom prst="ellipse">
            <a:avLst/>
          </a:prstGeom>
          <a:solidFill>
            <a:srgbClr val="4DA3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1066800" y="2197100"/>
            <a:ext cx="4318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100" b="1" smtClean="0">
                <a:solidFill>
                  <a:srgbClr val="FFFFFF"/>
                </a:solidFill>
                <a:latin typeface="Montserrat"/>
              </a:rPr>
              <a:t>2</a:t>
            </a:r>
            <a:endParaRPr lang="en-IN" sz="1100" b="1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25600" y="2171700"/>
            <a:ext cx="9271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 smtClean="0">
                <a:solidFill>
                  <a:srgbClr val="1E2A36"/>
                </a:solidFill>
                <a:latin typeface="Calibri" panose="020F0502020204030204" pitchFamily="34" charset="0"/>
              </a:rPr>
              <a:t>Enable user registration and authenticated login.</a:t>
            </a:r>
            <a:endParaRPr lang="en-IN" sz="1700">
              <a:solidFill>
                <a:srgbClr val="1E2A36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89000" y="2819400"/>
            <a:ext cx="10414000" cy="711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/>
          <p:cNvSpPr/>
          <p:nvPr/>
        </p:nvSpPr>
        <p:spPr>
          <a:xfrm>
            <a:off x="1066800" y="2946400"/>
            <a:ext cx="431800" cy="431800"/>
          </a:xfrm>
          <a:prstGeom prst="ellipse">
            <a:avLst/>
          </a:prstGeom>
          <a:solidFill>
            <a:srgbClr val="1F3A5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1066800" y="3048000"/>
            <a:ext cx="4318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100" b="1" smtClean="0">
                <a:solidFill>
                  <a:srgbClr val="FFFFFF"/>
                </a:solidFill>
                <a:latin typeface="Montserrat"/>
              </a:rPr>
              <a:t>3</a:t>
            </a:r>
            <a:endParaRPr lang="en-IN" sz="1100" b="1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25600" y="3022600"/>
            <a:ext cx="9271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 smtClean="0">
                <a:solidFill>
                  <a:srgbClr val="1E2A36"/>
                </a:solidFill>
                <a:latin typeface="Calibri" panose="020F0502020204030204" pitchFamily="34" charset="0"/>
              </a:rPr>
              <a:t>Allow sellers to list and manage auction items.</a:t>
            </a:r>
            <a:endParaRPr lang="en-IN" sz="1700">
              <a:solidFill>
                <a:srgbClr val="1E2A36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89000" y="3670300"/>
            <a:ext cx="10414000" cy="711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/>
          <p:cNvSpPr/>
          <p:nvPr/>
        </p:nvSpPr>
        <p:spPr>
          <a:xfrm>
            <a:off x="1066800" y="3797300"/>
            <a:ext cx="431800" cy="431800"/>
          </a:xfrm>
          <a:prstGeom prst="ellipse">
            <a:avLst/>
          </a:prstGeom>
          <a:solidFill>
            <a:srgbClr val="4DA3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1066800" y="3898900"/>
            <a:ext cx="4318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100" b="1" smtClean="0">
                <a:solidFill>
                  <a:srgbClr val="FFFFFF"/>
                </a:solidFill>
                <a:latin typeface="Montserrat"/>
              </a:rPr>
              <a:t>4</a:t>
            </a:r>
            <a:endParaRPr lang="en-IN" sz="1100" b="1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625600" y="3873500"/>
            <a:ext cx="9271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 smtClean="0">
                <a:solidFill>
                  <a:srgbClr val="1E2A36"/>
                </a:solidFill>
                <a:latin typeface="Calibri" panose="020F0502020204030204" pitchFamily="34" charset="0"/>
              </a:rPr>
              <a:t>Enable buyers to place bids with real-time updates.</a:t>
            </a:r>
            <a:endParaRPr lang="en-IN" sz="1700">
              <a:solidFill>
                <a:srgbClr val="1E2A36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89000" y="4521200"/>
            <a:ext cx="10414000" cy="711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/>
          <p:cNvSpPr/>
          <p:nvPr/>
        </p:nvSpPr>
        <p:spPr>
          <a:xfrm>
            <a:off x="1066800" y="4648200"/>
            <a:ext cx="431800" cy="431800"/>
          </a:xfrm>
          <a:prstGeom prst="ellipse">
            <a:avLst/>
          </a:prstGeom>
          <a:solidFill>
            <a:srgbClr val="1F3A5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1066800" y="4749800"/>
            <a:ext cx="4318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100" b="1" smtClean="0">
                <a:solidFill>
                  <a:srgbClr val="FFFFFF"/>
                </a:solidFill>
                <a:latin typeface="Montserrat"/>
              </a:rPr>
              <a:t>5</a:t>
            </a:r>
            <a:endParaRPr lang="en-IN" sz="1100" b="1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625600" y="4724400"/>
            <a:ext cx="9271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 smtClean="0">
                <a:solidFill>
                  <a:srgbClr val="1E2A36"/>
                </a:solidFill>
                <a:latin typeface="Calibri" panose="020F0502020204030204" pitchFamily="34" charset="0"/>
              </a:rPr>
              <a:t>Automatically declare the highest bidder as winner.</a:t>
            </a:r>
            <a:endParaRPr lang="en-IN" sz="1700">
              <a:solidFill>
                <a:srgbClr val="1E2A36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430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0" y="533400"/>
            <a:ext cx="12192000" cy="38100"/>
          </a:xfrm>
          <a:prstGeom prst="rect">
            <a:avLst/>
          </a:prstGeom>
          <a:solidFill>
            <a:srgbClr val="4DA3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508000" y="101600"/>
            <a:ext cx="965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 smtClean="0">
                <a:solidFill>
                  <a:srgbClr val="1F3A5F"/>
                </a:solidFill>
                <a:latin typeface="Poppins"/>
              </a:rPr>
              <a:t>5. System Requirements</a:t>
            </a:r>
            <a:endParaRPr lang="en-IN" sz="2400" b="1">
              <a:solidFill>
                <a:srgbClr val="1F3A5F"/>
              </a:solidFill>
              <a:latin typeface="Poppi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39500" y="127000"/>
            <a:ext cx="698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200" b="1" smtClean="0">
                <a:solidFill>
                  <a:srgbClr val="1F3A5F"/>
                </a:solidFill>
                <a:latin typeface="Calibri" panose="020F0502020204030204" pitchFamily="34" charset="0"/>
              </a:rPr>
              <a:t>5/10</a:t>
            </a:r>
            <a:endParaRPr lang="en-IN" sz="1200" b="1">
              <a:solidFill>
                <a:srgbClr val="1F3A5F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71500" y="1016000"/>
            <a:ext cx="5334000" cy="495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DA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6286500" y="1016000"/>
            <a:ext cx="5334000" cy="495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A6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889000" y="1244600"/>
            <a:ext cx="4699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900" b="1" smtClean="0">
                <a:solidFill>
                  <a:srgbClr val="1F3A5F"/>
                </a:solidFill>
                <a:latin typeface="Poppins"/>
              </a:rPr>
              <a:t>Functional Requirements</a:t>
            </a:r>
            <a:endParaRPr lang="en-IN" sz="1900" b="1">
              <a:solidFill>
                <a:srgbClr val="1F3A5F"/>
              </a:solidFill>
              <a:latin typeface="Poppi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04000" y="1244600"/>
            <a:ext cx="4699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900" b="1" smtClean="0">
                <a:solidFill>
                  <a:srgbClr val="1F3A5F"/>
                </a:solidFill>
                <a:latin typeface="Poppins"/>
              </a:rPr>
              <a:t>Non-Functional Requirements</a:t>
            </a:r>
            <a:endParaRPr lang="en-IN" sz="1900" b="1">
              <a:solidFill>
                <a:srgbClr val="1F3A5F"/>
              </a:solidFill>
              <a:latin typeface="Poppi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3600" y="1714500"/>
            <a:ext cx="4699000" cy="16568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500" smtClean="0">
                <a:solidFill>
                  <a:srgbClr val="1E2A36"/>
                </a:solidFill>
                <a:latin typeface="Calibri" panose="020F0502020204030204" pitchFamily="34" charset="0"/>
              </a:rPr>
              <a:t>- User registration and account creation</a:t>
            </a:r>
          </a:p>
          <a:p>
            <a:pPr>
              <a:spcAft>
                <a:spcPts val="800"/>
              </a:spcAft>
            </a:pPr>
            <a:r>
              <a:rPr lang="en-US" sz="1500" smtClean="0">
                <a:solidFill>
                  <a:srgbClr val="1E2A36"/>
                </a:solidFill>
                <a:latin typeface="Calibri" panose="020F0502020204030204" pitchFamily="34" charset="0"/>
              </a:rPr>
              <a:t>- Secure login with authentication</a:t>
            </a:r>
          </a:p>
          <a:p>
            <a:pPr>
              <a:spcAft>
                <a:spcPts val="800"/>
              </a:spcAft>
            </a:pPr>
            <a:r>
              <a:rPr lang="en-US" sz="1500" smtClean="0">
                <a:solidFill>
                  <a:srgbClr val="1E2A36"/>
                </a:solidFill>
                <a:latin typeface="Calibri" panose="020F0502020204030204" pitchFamily="34" charset="0"/>
              </a:rPr>
              <a:t>- Item listing and update by sellers</a:t>
            </a:r>
          </a:p>
          <a:p>
            <a:pPr>
              <a:spcAft>
                <a:spcPts val="800"/>
              </a:spcAft>
            </a:pPr>
            <a:r>
              <a:rPr lang="en-US" sz="1500" smtClean="0">
                <a:solidFill>
                  <a:srgbClr val="1E2A36"/>
                </a:solidFill>
                <a:latin typeface="Calibri" panose="020F0502020204030204" pitchFamily="34" charset="0"/>
              </a:rPr>
              <a:t>- Real-time bid placement by buyers</a:t>
            </a:r>
          </a:p>
          <a:p>
            <a:pPr>
              <a:spcAft>
                <a:spcPts val="800"/>
              </a:spcAft>
            </a:pPr>
            <a:r>
              <a:rPr lang="en-US" sz="1500" smtClean="0">
                <a:solidFill>
                  <a:srgbClr val="1E2A36"/>
                </a:solidFill>
                <a:latin typeface="Calibri" panose="020F0502020204030204" pitchFamily="34" charset="0"/>
              </a:rPr>
              <a:t>- Auction timer for start and end control</a:t>
            </a:r>
            <a:endParaRPr lang="en-IN" sz="1500">
              <a:solidFill>
                <a:srgbClr val="1E2A36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78600" y="1714500"/>
            <a:ext cx="4699000" cy="16568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500" smtClean="0">
                <a:solidFill>
                  <a:srgbClr val="1E2A36"/>
                </a:solidFill>
                <a:latin typeface="Calibri" panose="020F0502020204030204" pitchFamily="34" charset="0"/>
              </a:rPr>
              <a:t>- Strong security and privacy controls</a:t>
            </a:r>
          </a:p>
          <a:p>
            <a:pPr>
              <a:spcAft>
                <a:spcPts val="800"/>
              </a:spcAft>
            </a:pPr>
            <a:r>
              <a:rPr lang="en-US" sz="1500" smtClean="0">
                <a:solidFill>
                  <a:srgbClr val="1E2A36"/>
                </a:solidFill>
                <a:latin typeface="Calibri" panose="020F0502020204030204" pitchFamily="34" charset="0"/>
              </a:rPr>
              <a:t>- Reliable operation with low downtime</a:t>
            </a:r>
          </a:p>
          <a:p>
            <a:pPr>
              <a:spcAft>
                <a:spcPts val="800"/>
              </a:spcAft>
            </a:pPr>
            <a:r>
              <a:rPr lang="en-US" sz="1500" smtClean="0">
                <a:solidFill>
                  <a:srgbClr val="1E2A36"/>
                </a:solidFill>
                <a:latin typeface="Calibri" panose="020F0502020204030204" pitchFamily="34" charset="0"/>
              </a:rPr>
              <a:t>- Fast response time during peak traffic</a:t>
            </a:r>
          </a:p>
          <a:p>
            <a:pPr>
              <a:spcAft>
                <a:spcPts val="800"/>
              </a:spcAft>
            </a:pPr>
            <a:r>
              <a:rPr lang="en-US" sz="1500" smtClean="0">
                <a:solidFill>
                  <a:srgbClr val="1E2A36"/>
                </a:solidFill>
                <a:latin typeface="Calibri" panose="020F0502020204030204" pitchFamily="34" charset="0"/>
              </a:rPr>
              <a:t>- User-friendly and intuitive interface</a:t>
            </a:r>
          </a:p>
          <a:p>
            <a:pPr>
              <a:spcAft>
                <a:spcPts val="800"/>
              </a:spcAft>
            </a:pPr>
            <a:r>
              <a:rPr lang="en-US" sz="1500" smtClean="0">
                <a:solidFill>
                  <a:srgbClr val="1E2A36"/>
                </a:solidFill>
                <a:latin typeface="Calibri" panose="020F0502020204030204" pitchFamily="34" charset="0"/>
              </a:rPr>
              <a:t>- Scalability for future expansion</a:t>
            </a:r>
            <a:endParaRPr lang="en-IN" sz="1500">
              <a:solidFill>
                <a:srgbClr val="1E2A36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5329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0" y="533400"/>
            <a:ext cx="12192000" cy="38100"/>
          </a:xfrm>
          <a:prstGeom prst="rect">
            <a:avLst/>
          </a:prstGeom>
          <a:solidFill>
            <a:srgbClr val="4DA3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508000" y="101600"/>
            <a:ext cx="965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 smtClean="0">
                <a:solidFill>
                  <a:srgbClr val="1F3A5F"/>
                </a:solidFill>
                <a:latin typeface="Poppins"/>
              </a:rPr>
              <a:t>6. System Architecture</a:t>
            </a:r>
            <a:endParaRPr lang="en-IN" sz="2400" b="1">
              <a:solidFill>
                <a:srgbClr val="1F3A5F"/>
              </a:solidFill>
              <a:latin typeface="Poppi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39500" y="127000"/>
            <a:ext cx="698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200" b="1" smtClean="0">
                <a:solidFill>
                  <a:srgbClr val="1F3A5F"/>
                </a:solidFill>
                <a:latin typeface="Calibri" panose="020F0502020204030204" pitchFamily="34" charset="0"/>
              </a:rPr>
              <a:t>6/10</a:t>
            </a:r>
            <a:endParaRPr lang="en-IN" sz="1200" b="1">
              <a:solidFill>
                <a:srgbClr val="1F3A5F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8000" y="711200"/>
            <a:ext cx="1117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300" smtClean="0">
                <a:solidFill>
                  <a:srgbClr val="1E2A36"/>
                </a:solidFill>
                <a:latin typeface="Calibri" panose="020F0502020204030204" pitchFamily="34" charset="0"/>
              </a:rPr>
              <a:t>- Main components: User Interface, Backend Server, Auction Management, Bidding System, Database, and Payment Module.</a:t>
            </a:r>
            <a:endParaRPr lang="en-IN" sz="1300">
              <a:solidFill>
                <a:srgbClr val="1E2A36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98500" y="1524000"/>
            <a:ext cx="1778000" cy="838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800100" y="1676400"/>
            <a:ext cx="15748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 b="1" smtClean="0">
                <a:solidFill>
                  <a:srgbClr val="1E2A36"/>
                </a:solidFill>
                <a:latin typeface="Calibri" panose="020F0502020204030204" pitchFamily="34" charset="0"/>
              </a:rPr>
              <a:t>User Interface`n(Frontend)</a:t>
            </a:r>
            <a:endParaRPr lang="en-IN" sz="1200" b="1">
              <a:solidFill>
                <a:srgbClr val="1E2A36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794000" y="1524000"/>
            <a:ext cx="1778000" cy="838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DA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2895600" y="1676400"/>
            <a:ext cx="1574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 b="1" smtClean="0">
                <a:solidFill>
                  <a:srgbClr val="1E2A36"/>
                </a:solidFill>
                <a:latin typeface="Calibri" panose="020F0502020204030204" pitchFamily="34" charset="0"/>
              </a:rPr>
              <a:t>Backend`nServer</a:t>
            </a:r>
            <a:endParaRPr lang="en-IN" sz="1200" b="1">
              <a:solidFill>
                <a:srgbClr val="1E2A36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889500" y="1524000"/>
            <a:ext cx="1778000" cy="838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4991100" y="1676400"/>
            <a:ext cx="15748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 b="1" smtClean="0">
                <a:solidFill>
                  <a:srgbClr val="1E2A36"/>
                </a:solidFill>
                <a:latin typeface="Calibri" panose="020F0502020204030204" pitchFamily="34" charset="0"/>
              </a:rPr>
              <a:t>Auction`nManagement</a:t>
            </a:r>
            <a:endParaRPr lang="en-IN" sz="1200" b="1">
              <a:solidFill>
                <a:srgbClr val="1E2A36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985000" y="1524000"/>
            <a:ext cx="1778000" cy="838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DA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7086600" y="1676400"/>
            <a:ext cx="1574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 b="1" smtClean="0">
                <a:solidFill>
                  <a:srgbClr val="1E2A36"/>
                </a:solidFill>
                <a:latin typeface="Calibri" panose="020F0502020204030204" pitchFamily="34" charset="0"/>
              </a:rPr>
              <a:t>Bidding`nSystem</a:t>
            </a:r>
            <a:endParaRPr lang="en-IN" sz="1200" b="1">
              <a:solidFill>
                <a:srgbClr val="1E2A36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127500" y="3238500"/>
            <a:ext cx="1778000" cy="838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4229100" y="3390900"/>
            <a:ext cx="1574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 b="1" smtClean="0">
                <a:solidFill>
                  <a:srgbClr val="1E2A36"/>
                </a:solidFill>
                <a:latin typeface="Calibri" panose="020F0502020204030204" pitchFamily="34" charset="0"/>
              </a:rPr>
              <a:t>Database</a:t>
            </a:r>
            <a:endParaRPr lang="en-IN" sz="1200" b="1">
              <a:solidFill>
                <a:srgbClr val="1E2A36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350000" y="3238500"/>
            <a:ext cx="1778000" cy="838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A6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/>
          <p:cNvSpPr txBox="1"/>
          <p:nvPr/>
        </p:nvSpPr>
        <p:spPr>
          <a:xfrm>
            <a:off x="6451600" y="3390900"/>
            <a:ext cx="1574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 b="1" smtClean="0">
                <a:solidFill>
                  <a:srgbClr val="1E2A36"/>
                </a:solidFill>
                <a:latin typeface="Calibri" panose="020F0502020204030204" pitchFamily="34" charset="0"/>
              </a:rPr>
              <a:t>Payment`nModule</a:t>
            </a:r>
            <a:endParaRPr lang="en-IN" sz="1200" b="1">
              <a:solidFill>
                <a:srgbClr val="1E2A36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Right Arrow 18"/>
          <p:cNvSpPr/>
          <p:nvPr/>
        </p:nvSpPr>
        <p:spPr>
          <a:xfrm>
            <a:off x="2540000" y="1803400"/>
            <a:ext cx="228600" cy="203200"/>
          </a:xfrm>
          <a:prstGeom prst="rightArrow">
            <a:avLst/>
          </a:prstGeom>
          <a:solidFill>
            <a:srgbClr val="4DA3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ight Arrow 19"/>
          <p:cNvSpPr/>
          <p:nvPr/>
        </p:nvSpPr>
        <p:spPr>
          <a:xfrm>
            <a:off x="4635500" y="1803400"/>
            <a:ext cx="228600" cy="203200"/>
          </a:xfrm>
          <a:prstGeom prst="rightArrow">
            <a:avLst/>
          </a:prstGeom>
          <a:solidFill>
            <a:srgbClr val="4DA3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ight Arrow 20"/>
          <p:cNvSpPr/>
          <p:nvPr/>
        </p:nvSpPr>
        <p:spPr>
          <a:xfrm>
            <a:off x="6731000" y="1803400"/>
            <a:ext cx="228600" cy="203200"/>
          </a:xfrm>
          <a:prstGeom prst="rightArrow">
            <a:avLst/>
          </a:prstGeom>
          <a:solidFill>
            <a:srgbClr val="4DA3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Down Arrow 21"/>
          <p:cNvSpPr/>
          <p:nvPr/>
        </p:nvSpPr>
        <p:spPr>
          <a:xfrm>
            <a:off x="5715000" y="2438400"/>
            <a:ext cx="203200" cy="355600"/>
          </a:xfrm>
          <a:prstGeom prst="downArrow">
            <a:avLst/>
          </a:prstGeom>
          <a:solidFill>
            <a:srgbClr val="4DA3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Down Arrow 22"/>
          <p:cNvSpPr/>
          <p:nvPr/>
        </p:nvSpPr>
        <p:spPr>
          <a:xfrm>
            <a:off x="7810500" y="2438400"/>
            <a:ext cx="203200" cy="355600"/>
          </a:xfrm>
          <a:prstGeom prst="downArrow">
            <a:avLst/>
          </a:prstGeom>
          <a:solidFill>
            <a:srgbClr val="4DA3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7670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0" y="533400"/>
            <a:ext cx="12192000" cy="38100"/>
          </a:xfrm>
          <a:prstGeom prst="rect">
            <a:avLst/>
          </a:prstGeom>
          <a:solidFill>
            <a:srgbClr val="4DA3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508000" y="101600"/>
            <a:ext cx="965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 smtClean="0">
                <a:solidFill>
                  <a:srgbClr val="1F3A5F"/>
                </a:solidFill>
                <a:latin typeface="Poppins"/>
              </a:rPr>
              <a:t>7. Use Case Diagram</a:t>
            </a:r>
            <a:endParaRPr lang="en-IN" sz="2400" b="1">
              <a:solidFill>
                <a:srgbClr val="1F3A5F"/>
              </a:solidFill>
              <a:latin typeface="Poppi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39500" y="127000"/>
            <a:ext cx="698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200" b="1" smtClean="0">
                <a:solidFill>
                  <a:srgbClr val="1F3A5F"/>
                </a:solidFill>
                <a:latin typeface="Calibri" panose="020F0502020204030204" pitchFamily="34" charset="0"/>
              </a:rPr>
              <a:t>7/10</a:t>
            </a:r>
            <a:endParaRPr lang="en-IN" sz="1200" b="1">
              <a:solidFill>
                <a:srgbClr val="1F3A5F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175000" y="1079500"/>
            <a:ext cx="6604000" cy="4762500"/>
          </a:xfrm>
          <a:prstGeom prst="roundRect">
            <a:avLst/>
          </a:prstGeom>
          <a:solidFill>
            <a:srgbClr val="F9FBFF"/>
          </a:solidFill>
          <a:ln w="19050">
            <a:solidFill>
              <a:srgbClr val="4DA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429000" y="1206500"/>
            <a:ext cx="6096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500" b="1" smtClean="0">
                <a:solidFill>
                  <a:srgbClr val="1F3A5F"/>
                </a:solidFill>
                <a:latin typeface="Poppins"/>
              </a:rPr>
              <a:t>Auction Management System</a:t>
            </a:r>
            <a:endParaRPr lang="en-IN" sz="1500" b="1">
              <a:solidFill>
                <a:srgbClr val="1F3A5F"/>
              </a:solidFill>
              <a:latin typeface="Poppin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98500" y="1841500"/>
            <a:ext cx="1651000" cy="533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698500" y="1968500"/>
            <a:ext cx="165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400" b="1" smtClean="0">
                <a:solidFill>
                  <a:srgbClr val="1F3A5F"/>
                </a:solidFill>
                <a:latin typeface="Calibri" panose="020F0502020204030204" pitchFamily="34" charset="0"/>
              </a:rPr>
              <a:t>Admin</a:t>
            </a:r>
            <a:endParaRPr lang="en-IN" sz="1400" b="1">
              <a:solidFill>
                <a:srgbClr val="1F3A5F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98500" y="2857500"/>
            <a:ext cx="1651000" cy="533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698500" y="2984500"/>
            <a:ext cx="165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400" b="1" smtClean="0">
                <a:solidFill>
                  <a:srgbClr val="1F3A5F"/>
                </a:solidFill>
                <a:latin typeface="Calibri" panose="020F0502020204030204" pitchFamily="34" charset="0"/>
              </a:rPr>
              <a:t>Seller</a:t>
            </a:r>
            <a:endParaRPr lang="en-IN" sz="1400" b="1">
              <a:solidFill>
                <a:srgbClr val="1F3A5F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98500" y="3873500"/>
            <a:ext cx="1651000" cy="533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698500" y="4000500"/>
            <a:ext cx="165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400" b="1" smtClean="0">
                <a:solidFill>
                  <a:srgbClr val="1F3A5F"/>
                </a:solidFill>
                <a:latin typeface="Calibri" panose="020F0502020204030204" pitchFamily="34" charset="0"/>
              </a:rPr>
              <a:t>Buyer</a:t>
            </a:r>
            <a:endParaRPr lang="en-IN" sz="1400" b="1">
              <a:solidFill>
                <a:srgbClr val="1F3A5F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3619500" y="1841500"/>
            <a:ext cx="2413000" cy="558800"/>
          </a:xfrm>
          <a:prstGeom prst="ellipse">
            <a:avLst/>
          </a:prstGeom>
          <a:solidFill>
            <a:srgbClr val="FFFFFF"/>
          </a:solidFill>
          <a:ln>
            <a:solidFill>
              <a:srgbClr val="4DA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/>
          <p:cNvSpPr txBox="1"/>
          <p:nvPr/>
        </p:nvSpPr>
        <p:spPr>
          <a:xfrm>
            <a:off x="3619500" y="1993900"/>
            <a:ext cx="2413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 b="1" smtClean="0">
                <a:solidFill>
                  <a:srgbClr val="1E2A36"/>
                </a:solidFill>
                <a:latin typeface="Calibri" panose="020F0502020204030204" pitchFamily="34" charset="0"/>
              </a:rPr>
              <a:t>Register</a:t>
            </a:r>
            <a:endParaRPr lang="en-IN" sz="1200" b="1">
              <a:solidFill>
                <a:srgbClr val="1E2A36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6731000" y="1841500"/>
            <a:ext cx="2413000" cy="558800"/>
          </a:xfrm>
          <a:prstGeom prst="ellipse">
            <a:avLst/>
          </a:prstGeom>
          <a:solidFill>
            <a:srgbClr val="FFFFFF"/>
          </a:solidFill>
          <a:ln>
            <a:solidFill>
              <a:srgbClr val="4DA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6731000" y="1993900"/>
            <a:ext cx="2413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 b="1" smtClean="0">
                <a:solidFill>
                  <a:srgbClr val="1E2A36"/>
                </a:solidFill>
                <a:latin typeface="Calibri" panose="020F0502020204030204" pitchFamily="34" charset="0"/>
              </a:rPr>
              <a:t>Login</a:t>
            </a:r>
            <a:endParaRPr lang="en-IN" sz="1200" b="1">
              <a:solidFill>
                <a:srgbClr val="1E2A36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3619500" y="2857500"/>
            <a:ext cx="2413000" cy="558800"/>
          </a:xfrm>
          <a:prstGeom prst="ellipse">
            <a:avLst/>
          </a:prstGeom>
          <a:solidFill>
            <a:srgbClr val="FFFFFF"/>
          </a:solidFill>
          <a:ln>
            <a:solidFill>
              <a:srgbClr val="4DA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/>
          <p:cNvSpPr txBox="1"/>
          <p:nvPr/>
        </p:nvSpPr>
        <p:spPr>
          <a:xfrm>
            <a:off x="3619500" y="3009900"/>
            <a:ext cx="2413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 b="1" smtClean="0">
                <a:solidFill>
                  <a:srgbClr val="1E2A36"/>
                </a:solidFill>
                <a:latin typeface="Calibri" panose="020F0502020204030204" pitchFamily="34" charset="0"/>
              </a:rPr>
              <a:t>List Item</a:t>
            </a:r>
            <a:endParaRPr lang="en-IN" sz="1200" b="1">
              <a:solidFill>
                <a:srgbClr val="1E2A36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6731000" y="2857500"/>
            <a:ext cx="2413000" cy="558800"/>
          </a:xfrm>
          <a:prstGeom prst="ellipse">
            <a:avLst/>
          </a:prstGeom>
          <a:solidFill>
            <a:srgbClr val="FFFFFF"/>
          </a:solidFill>
          <a:ln>
            <a:solidFill>
              <a:srgbClr val="4DA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/>
          <p:cNvSpPr txBox="1"/>
          <p:nvPr/>
        </p:nvSpPr>
        <p:spPr>
          <a:xfrm>
            <a:off x="6731000" y="3009900"/>
            <a:ext cx="2413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 b="1" smtClean="0">
                <a:solidFill>
                  <a:srgbClr val="1E2A36"/>
                </a:solidFill>
                <a:latin typeface="Calibri" panose="020F0502020204030204" pitchFamily="34" charset="0"/>
              </a:rPr>
              <a:t>Place Bid</a:t>
            </a:r>
            <a:endParaRPr lang="en-IN" sz="1200" b="1">
              <a:solidFill>
                <a:srgbClr val="1E2A36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3619500" y="3873500"/>
            <a:ext cx="2413000" cy="558800"/>
          </a:xfrm>
          <a:prstGeom prst="ellipse">
            <a:avLst/>
          </a:prstGeom>
          <a:solidFill>
            <a:srgbClr val="FFFFFF"/>
          </a:solidFill>
          <a:ln>
            <a:solidFill>
              <a:srgbClr val="4DA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/>
          <p:cNvSpPr txBox="1"/>
          <p:nvPr/>
        </p:nvSpPr>
        <p:spPr>
          <a:xfrm>
            <a:off x="3619500" y="4025900"/>
            <a:ext cx="2413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 b="1" smtClean="0">
                <a:solidFill>
                  <a:srgbClr val="1E2A36"/>
                </a:solidFill>
                <a:latin typeface="Calibri" panose="020F0502020204030204" pitchFamily="34" charset="0"/>
              </a:rPr>
              <a:t>Manage Auctions</a:t>
            </a:r>
            <a:endParaRPr lang="en-IN" sz="1200" b="1">
              <a:solidFill>
                <a:srgbClr val="1E2A36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6731000" y="3873500"/>
            <a:ext cx="2413000" cy="558800"/>
          </a:xfrm>
          <a:prstGeom prst="ellipse">
            <a:avLst/>
          </a:prstGeom>
          <a:solidFill>
            <a:srgbClr val="FFFFFF"/>
          </a:solidFill>
          <a:ln>
            <a:solidFill>
              <a:srgbClr val="4DA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/>
          <p:cNvSpPr txBox="1"/>
          <p:nvPr/>
        </p:nvSpPr>
        <p:spPr>
          <a:xfrm>
            <a:off x="6731000" y="4025900"/>
            <a:ext cx="2413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 b="1" smtClean="0">
                <a:solidFill>
                  <a:srgbClr val="1E2A36"/>
                </a:solidFill>
                <a:latin typeface="Calibri" panose="020F0502020204030204" pitchFamily="34" charset="0"/>
              </a:rPr>
              <a:t>Declare Winner</a:t>
            </a:r>
            <a:endParaRPr lang="en-IN" sz="1200" b="1">
              <a:solidFill>
                <a:srgbClr val="1E2A36"/>
              </a:solidFill>
              <a:latin typeface="Calibri" panose="020F0502020204030204" pitchFamily="34" charset="0"/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2349500" y="2108200"/>
            <a:ext cx="1270000" cy="0"/>
          </a:xfrm>
          <a:prstGeom prst="line">
            <a:avLst/>
          </a:prstGeom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2349500" y="3124200"/>
            <a:ext cx="1270000" cy="0"/>
          </a:xfrm>
          <a:prstGeom prst="line">
            <a:avLst/>
          </a:prstGeom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2349500" y="4140200"/>
            <a:ext cx="1270000" cy="0"/>
          </a:xfrm>
          <a:prstGeom prst="line">
            <a:avLst/>
          </a:prstGeom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2751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0" y="533400"/>
            <a:ext cx="12192000" cy="38100"/>
          </a:xfrm>
          <a:prstGeom prst="rect">
            <a:avLst/>
          </a:prstGeom>
          <a:solidFill>
            <a:srgbClr val="4DA3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508000" y="101600"/>
            <a:ext cx="965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 smtClean="0">
                <a:solidFill>
                  <a:srgbClr val="1F3A5F"/>
                </a:solidFill>
                <a:latin typeface="Poppins"/>
              </a:rPr>
              <a:t>8. System Workflow</a:t>
            </a:r>
            <a:endParaRPr lang="en-IN" sz="2400" b="1">
              <a:solidFill>
                <a:srgbClr val="1F3A5F"/>
              </a:solidFill>
              <a:latin typeface="Poppi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39500" y="127000"/>
            <a:ext cx="698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200" b="1" smtClean="0">
                <a:solidFill>
                  <a:srgbClr val="1F3A5F"/>
                </a:solidFill>
                <a:latin typeface="Calibri" panose="020F0502020204030204" pitchFamily="34" charset="0"/>
              </a:rPr>
              <a:t>8/10</a:t>
            </a:r>
            <a:endParaRPr lang="en-IN" sz="1200" b="1">
              <a:solidFill>
                <a:srgbClr val="1F3A5F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31800" y="2260600"/>
            <a:ext cx="1244600" cy="990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482600" y="2514600"/>
            <a:ext cx="1143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000" b="1" smtClean="0">
                <a:solidFill>
                  <a:srgbClr val="1E2A36"/>
                </a:solidFill>
                <a:latin typeface="Calibri" panose="020F0502020204030204" pitchFamily="34" charset="0"/>
              </a:rPr>
              <a:t>1. User`nRegistration</a:t>
            </a:r>
            <a:endParaRPr lang="en-IN" sz="1000" b="1">
              <a:solidFill>
                <a:srgbClr val="1E2A36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1714500" y="2641600"/>
            <a:ext cx="177800" cy="152400"/>
          </a:xfrm>
          <a:prstGeom prst="rightArrow">
            <a:avLst/>
          </a:prstGeom>
          <a:solidFill>
            <a:srgbClr val="4DA3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ounded Rectangle 8"/>
          <p:cNvSpPr/>
          <p:nvPr/>
        </p:nvSpPr>
        <p:spPr>
          <a:xfrm>
            <a:off x="1905000" y="2260600"/>
            <a:ext cx="1244600" cy="990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DA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1955800" y="2514600"/>
            <a:ext cx="1143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000" b="1" smtClean="0">
                <a:solidFill>
                  <a:srgbClr val="1E2A36"/>
                </a:solidFill>
                <a:latin typeface="Calibri" panose="020F0502020204030204" pitchFamily="34" charset="0"/>
              </a:rPr>
              <a:t>2. Login</a:t>
            </a:r>
            <a:endParaRPr lang="en-IN" sz="1000" b="1">
              <a:solidFill>
                <a:srgbClr val="1E2A36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3187700" y="2641600"/>
            <a:ext cx="177800" cy="152400"/>
          </a:xfrm>
          <a:prstGeom prst="rightArrow">
            <a:avLst/>
          </a:prstGeom>
          <a:solidFill>
            <a:srgbClr val="4DA3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ounded Rectangle 11"/>
          <p:cNvSpPr/>
          <p:nvPr/>
        </p:nvSpPr>
        <p:spPr>
          <a:xfrm>
            <a:off x="3378200" y="2260600"/>
            <a:ext cx="1244600" cy="990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3429000" y="2514600"/>
            <a:ext cx="1143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000" b="1" smtClean="0">
                <a:solidFill>
                  <a:srgbClr val="1E2A36"/>
                </a:solidFill>
                <a:latin typeface="Calibri" panose="020F0502020204030204" pitchFamily="34" charset="0"/>
              </a:rPr>
              <a:t>3. Seller`nLists Item</a:t>
            </a:r>
            <a:endParaRPr lang="en-IN" sz="1000" b="1">
              <a:solidFill>
                <a:srgbClr val="1E2A36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4660900" y="2641600"/>
            <a:ext cx="177800" cy="152400"/>
          </a:xfrm>
          <a:prstGeom prst="rightArrow">
            <a:avLst/>
          </a:prstGeom>
          <a:solidFill>
            <a:srgbClr val="4DA3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ounded Rectangle 14"/>
          <p:cNvSpPr/>
          <p:nvPr/>
        </p:nvSpPr>
        <p:spPr>
          <a:xfrm>
            <a:off x="4851400" y="2260600"/>
            <a:ext cx="1244600" cy="990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DA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4902200" y="2514600"/>
            <a:ext cx="1143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000" b="1" smtClean="0">
                <a:solidFill>
                  <a:srgbClr val="1E2A36"/>
                </a:solidFill>
                <a:latin typeface="Calibri" panose="020F0502020204030204" pitchFamily="34" charset="0"/>
              </a:rPr>
              <a:t>4. Auction`nBegins</a:t>
            </a:r>
            <a:endParaRPr lang="en-IN" sz="1000" b="1">
              <a:solidFill>
                <a:srgbClr val="1E2A36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6134100" y="2641600"/>
            <a:ext cx="177800" cy="152400"/>
          </a:xfrm>
          <a:prstGeom prst="rightArrow">
            <a:avLst/>
          </a:prstGeom>
          <a:solidFill>
            <a:srgbClr val="4DA3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ounded Rectangle 17"/>
          <p:cNvSpPr/>
          <p:nvPr/>
        </p:nvSpPr>
        <p:spPr>
          <a:xfrm>
            <a:off x="6324600" y="2260600"/>
            <a:ext cx="1244600" cy="990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/>
          <p:cNvSpPr txBox="1"/>
          <p:nvPr/>
        </p:nvSpPr>
        <p:spPr>
          <a:xfrm>
            <a:off x="6375400" y="2514600"/>
            <a:ext cx="1143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000" b="1" smtClean="0">
                <a:solidFill>
                  <a:srgbClr val="1E2A36"/>
                </a:solidFill>
                <a:latin typeface="Calibri" panose="020F0502020204030204" pitchFamily="34" charset="0"/>
              </a:rPr>
              <a:t>5. Buyers`nPlace Bids</a:t>
            </a:r>
            <a:endParaRPr lang="en-IN" sz="1000" b="1">
              <a:solidFill>
                <a:srgbClr val="1E2A36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7607300" y="2641600"/>
            <a:ext cx="177800" cy="152400"/>
          </a:xfrm>
          <a:prstGeom prst="rightArrow">
            <a:avLst/>
          </a:prstGeom>
          <a:solidFill>
            <a:srgbClr val="4DA3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ounded Rectangle 20"/>
          <p:cNvSpPr/>
          <p:nvPr/>
        </p:nvSpPr>
        <p:spPr>
          <a:xfrm>
            <a:off x="7797800" y="2260600"/>
            <a:ext cx="1244600" cy="990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DA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/>
          <p:cNvSpPr txBox="1"/>
          <p:nvPr/>
        </p:nvSpPr>
        <p:spPr>
          <a:xfrm>
            <a:off x="7848600" y="2514600"/>
            <a:ext cx="1143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000" b="1" smtClean="0">
                <a:solidFill>
                  <a:srgbClr val="1E2A36"/>
                </a:solidFill>
                <a:latin typeface="Calibri" panose="020F0502020204030204" pitchFamily="34" charset="0"/>
              </a:rPr>
              <a:t>6. Highest Bid`nUpdated</a:t>
            </a:r>
            <a:endParaRPr lang="en-IN" sz="1000" b="1">
              <a:solidFill>
                <a:srgbClr val="1E2A36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Right Arrow 22"/>
          <p:cNvSpPr/>
          <p:nvPr/>
        </p:nvSpPr>
        <p:spPr>
          <a:xfrm>
            <a:off x="9080500" y="2641600"/>
            <a:ext cx="177800" cy="152400"/>
          </a:xfrm>
          <a:prstGeom prst="rightArrow">
            <a:avLst/>
          </a:prstGeom>
          <a:solidFill>
            <a:srgbClr val="4DA3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ounded Rectangle 23"/>
          <p:cNvSpPr/>
          <p:nvPr/>
        </p:nvSpPr>
        <p:spPr>
          <a:xfrm>
            <a:off x="9271000" y="2260600"/>
            <a:ext cx="1244600" cy="990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/>
          <p:cNvSpPr txBox="1"/>
          <p:nvPr/>
        </p:nvSpPr>
        <p:spPr>
          <a:xfrm>
            <a:off x="9321800" y="2514600"/>
            <a:ext cx="1143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000" b="1" smtClean="0">
                <a:solidFill>
                  <a:srgbClr val="1E2A36"/>
                </a:solidFill>
                <a:latin typeface="Calibri" panose="020F0502020204030204" pitchFamily="34" charset="0"/>
              </a:rPr>
              <a:t>7. Auction`nEnds</a:t>
            </a:r>
            <a:endParaRPr lang="en-IN" sz="1000" b="1">
              <a:solidFill>
                <a:srgbClr val="1E2A36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Right Arrow 25"/>
          <p:cNvSpPr/>
          <p:nvPr/>
        </p:nvSpPr>
        <p:spPr>
          <a:xfrm>
            <a:off x="10553700" y="2641600"/>
            <a:ext cx="177800" cy="152400"/>
          </a:xfrm>
          <a:prstGeom prst="rightArrow">
            <a:avLst/>
          </a:prstGeom>
          <a:solidFill>
            <a:srgbClr val="4DA3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ounded Rectangle 26"/>
          <p:cNvSpPr/>
          <p:nvPr/>
        </p:nvSpPr>
        <p:spPr>
          <a:xfrm>
            <a:off x="10744200" y="2260600"/>
            <a:ext cx="1244600" cy="990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DA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/>
          <p:cNvSpPr txBox="1"/>
          <p:nvPr/>
        </p:nvSpPr>
        <p:spPr>
          <a:xfrm>
            <a:off x="10795000" y="2514600"/>
            <a:ext cx="1143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000" b="1" smtClean="0">
                <a:solidFill>
                  <a:srgbClr val="1E2A36"/>
                </a:solidFill>
                <a:latin typeface="Calibri" panose="020F0502020204030204" pitchFamily="34" charset="0"/>
              </a:rPr>
              <a:t>8. Winner`nDeclared</a:t>
            </a:r>
            <a:endParaRPr lang="en-IN" sz="1000" b="1">
              <a:solidFill>
                <a:srgbClr val="1E2A36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62000" y="3810000"/>
            <a:ext cx="10668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 b="1" smtClean="0">
                <a:solidFill>
                  <a:srgbClr val="1F3A5F"/>
                </a:solidFill>
                <a:latin typeface="Calibri" panose="020F0502020204030204" pitchFamily="34" charset="0"/>
              </a:rPr>
              <a:t>The workflow ensures fairness and automation from user onboarding to winner declaration.</a:t>
            </a:r>
            <a:endParaRPr lang="en-IN" sz="1500" b="1">
              <a:solidFill>
                <a:srgbClr val="1F3A5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2986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0" y="533400"/>
            <a:ext cx="12192000" cy="38100"/>
          </a:xfrm>
          <a:prstGeom prst="rect">
            <a:avLst/>
          </a:prstGeom>
          <a:solidFill>
            <a:srgbClr val="4DA3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508000" y="101600"/>
            <a:ext cx="965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 smtClean="0">
                <a:solidFill>
                  <a:srgbClr val="1F3A5F"/>
                </a:solidFill>
                <a:latin typeface="Poppins"/>
              </a:rPr>
              <a:t>9. Advantages</a:t>
            </a:r>
            <a:endParaRPr lang="en-IN" sz="2400" b="1">
              <a:solidFill>
                <a:srgbClr val="1F3A5F"/>
              </a:solidFill>
              <a:latin typeface="Poppi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39500" y="127000"/>
            <a:ext cx="698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200" b="1" smtClean="0">
                <a:solidFill>
                  <a:srgbClr val="1F3A5F"/>
                </a:solidFill>
                <a:latin typeface="Calibri" panose="020F0502020204030204" pitchFamily="34" charset="0"/>
              </a:rPr>
              <a:t>9/10</a:t>
            </a:r>
            <a:endParaRPr lang="en-IN" sz="1200" b="1">
              <a:solidFill>
                <a:srgbClr val="1F3A5F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98500" y="1143000"/>
            <a:ext cx="3111500" cy="1841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/>
          <p:cNvSpPr/>
          <p:nvPr/>
        </p:nvSpPr>
        <p:spPr>
          <a:xfrm>
            <a:off x="850900" y="1295400"/>
            <a:ext cx="228600" cy="228600"/>
          </a:xfrm>
          <a:prstGeom prst="ellipse">
            <a:avLst/>
          </a:prstGeom>
          <a:solidFill>
            <a:srgbClr val="1F3A5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1181100" y="1270000"/>
            <a:ext cx="2413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 smtClean="0">
                <a:solidFill>
                  <a:srgbClr val="1F3A5F"/>
                </a:solidFill>
                <a:latin typeface="Poppins"/>
              </a:rPr>
              <a:t>Easy Access</a:t>
            </a:r>
            <a:endParaRPr lang="en-IN" sz="1300" b="1">
              <a:solidFill>
                <a:srgbClr val="1F3A5F"/>
              </a:solidFill>
              <a:latin typeface="Poppi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6300" y="1676400"/>
            <a:ext cx="2730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smtClean="0">
                <a:solidFill>
                  <a:srgbClr val="1E2A36"/>
                </a:solidFill>
                <a:latin typeface="Calibri" panose="020F0502020204030204" pitchFamily="34" charset="0"/>
              </a:rPr>
              <a:t>Users can join auctions from anywhere.</a:t>
            </a:r>
            <a:endParaRPr lang="en-IN" sz="1200">
              <a:solidFill>
                <a:srgbClr val="1E2A36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254500" y="1143000"/>
            <a:ext cx="3111500" cy="1841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DA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/>
          <p:cNvSpPr/>
          <p:nvPr/>
        </p:nvSpPr>
        <p:spPr>
          <a:xfrm>
            <a:off x="4406900" y="1295400"/>
            <a:ext cx="228600" cy="228600"/>
          </a:xfrm>
          <a:prstGeom prst="ellipse">
            <a:avLst/>
          </a:prstGeom>
          <a:solidFill>
            <a:srgbClr val="4DA3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4737100" y="1270000"/>
            <a:ext cx="2413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 smtClean="0">
                <a:solidFill>
                  <a:srgbClr val="1F3A5F"/>
                </a:solidFill>
                <a:latin typeface="Poppins"/>
              </a:rPr>
              <a:t>Transparent Bidding</a:t>
            </a:r>
            <a:endParaRPr lang="en-IN" sz="1300" b="1">
              <a:solidFill>
                <a:srgbClr val="1F3A5F"/>
              </a:solidFill>
              <a:latin typeface="Poppi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32300" y="1676400"/>
            <a:ext cx="2730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smtClean="0">
                <a:solidFill>
                  <a:srgbClr val="1E2A36"/>
                </a:solidFill>
                <a:latin typeface="Calibri" panose="020F0502020204030204" pitchFamily="34" charset="0"/>
              </a:rPr>
              <a:t>Real-time bid visibility builds trust.</a:t>
            </a:r>
            <a:endParaRPr lang="en-IN" sz="1200">
              <a:solidFill>
                <a:srgbClr val="1E2A36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810500" y="1143000"/>
            <a:ext cx="3111500" cy="1841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A6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/>
          <p:cNvSpPr/>
          <p:nvPr/>
        </p:nvSpPr>
        <p:spPr>
          <a:xfrm>
            <a:off x="7962900" y="1295400"/>
            <a:ext cx="228600" cy="228600"/>
          </a:xfrm>
          <a:prstGeom prst="ellipse">
            <a:avLst/>
          </a:prstGeom>
          <a:solidFill>
            <a:srgbClr val="F5A6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8293100" y="1270000"/>
            <a:ext cx="2413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 smtClean="0">
                <a:solidFill>
                  <a:srgbClr val="1F3A5F"/>
                </a:solidFill>
                <a:latin typeface="Poppins"/>
              </a:rPr>
              <a:t>Reduced Manual Work</a:t>
            </a:r>
            <a:endParaRPr lang="en-IN" sz="1300" b="1">
              <a:solidFill>
                <a:srgbClr val="1F3A5F"/>
              </a:solidFill>
              <a:latin typeface="Poppi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988300" y="1676400"/>
            <a:ext cx="2730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200" smtClean="0">
                <a:solidFill>
                  <a:srgbClr val="1E2A36"/>
                </a:solidFill>
                <a:latin typeface="Calibri" panose="020F0502020204030204" pitchFamily="34" charset="0"/>
              </a:rPr>
              <a:t>Automation lowers administrative effort.</a:t>
            </a:r>
            <a:endParaRPr lang="en-IN" sz="1200">
              <a:solidFill>
                <a:srgbClr val="1E2A36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476500" y="3429000"/>
            <a:ext cx="3111500" cy="1841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/>
          <p:cNvSpPr/>
          <p:nvPr/>
        </p:nvSpPr>
        <p:spPr>
          <a:xfrm>
            <a:off x="2628900" y="3581400"/>
            <a:ext cx="228600" cy="228600"/>
          </a:xfrm>
          <a:prstGeom prst="ellipse">
            <a:avLst/>
          </a:prstGeom>
          <a:solidFill>
            <a:srgbClr val="1F3A5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2959100" y="3556000"/>
            <a:ext cx="2413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 smtClean="0">
                <a:solidFill>
                  <a:srgbClr val="1F3A5F"/>
                </a:solidFill>
                <a:latin typeface="Poppins"/>
              </a:rPr>
              <a:t>Time Efficient</a:t>
            </a:r>
            <a:endParaRPr lang="en-IN" sz="1300" b="1">
              <a:solidFill>
                <a:srgbClr val="1F3A5F"/>
              </a:solidFill>
              <a:latin typeface="Poppi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654300" y="3962400"/>
            <a:ext cx="2730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smtClean="0">
                <a:solidFill>
                  <a:srgbClr val="1E2A36"/>
                </a:solidFill>
                <a:latin typeface="Calibri" panose="020F0502020204030204" pitchFamily="34" charset="0"/>
              </a:rPr>
              <a:t>Fast updates speed up auction cycles.</a:t>
            </a:r>
            <a:endParaRPr lang="en-IN" sz="1200">
              <a:solidFill>
                <a:srgbClr val="1E2A36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032500" y="3429000"/>
            <a:ext cx="3111500" cy="1841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DA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/>
          <p:cNvSpPr/>
          <p:nvPr/>
        </p:nvSpPr>
        <p:spPr>
          <a:xfrm>
            <a:off x="6184900" y="3581400"/>
            <a:ext cx="228600" cy="228600"/>
          </a:xfrm>
          <a:prstGeom prst="ellipse">
            <a:avLst/>
          </a:prstGeom>
          <a:solidFill>
            <a:srgbClr val="4DA3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6515100" y="3556000"/>
            <a:ext cx="2413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 smtClean="0">
                <a:solidFill>
                  <a:srgbClr val="1F3A5F"/>
                </a:solidFill>
                <a:latin typeface="Poppins"/>
              </a:rPr>
              <a:t>Better Management</a:t>
            </a:r>
            <a:endParaRPr lang="en-IN" sz="1300" b="1">
              <a:solidFill>
                <a:srgbClr val="1F3A5F"/>
              </a:solidFill>
              <a:latin typeface="Poppi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10300" y="3962400"/>
            <a:ext cx="2730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200" smtClean="0">
                <a:solidFill>
                  <a:srgbClr val="1E2A36"/>
                </a:solidFill>
                <a:latin typeface="Calibri" panose="020F0502020204030204" pitchFamily="34" charset="0"/>
              </a:rPr>
              <a:t>Centralized records improve tracking.</a:t>
            </a:r>
            <a:endParaRPr lang="en-IN" sz="1200">
              <a:solidFill>
                <a:srgbClr val="1E2A36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1352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0" y="533400"/>
            <a:ext cx="12192000" cy="38100"/>
          </a:xfrm>
          <a:prstGeom prst="rect">
            <a:avLst/>
          </a:prstGeom>
          <a:solidFill>
            <a:srgbClr val="4DA3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508000" y="101600"/>
            <a:ext cx="965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 smtClean="0">
                <a:solidFill>
                  <a:srgbClr val="1F3A5F"/>
                </a:solidFill>
                <a:latin typeface="Poppins"/>
              </a:rPr>
              <a:t>10. Conclusion and Future Scope</a:t>
            </a:r>
            <a:endParaRPr lang="en-IN" sz="2400" b="1">
              <a:solidFill>
                <a:srgbClr val="1F3A5F"/>
              </a:solidFill>
              <a:latin typeface="Poppi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39500" y="127000"/>
            <a:ext cx="698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200" b="1" smtClean="0">
                <a:solidFill>
                  <a:srgbClr val="1F3A5F"/>
                </a:solidFill>
                <a:latin typeface="Calibri" panose="020F0502020204030204" pitchFamily="34" charset="0"/>
              </a:rPr>
              <a:t>10/10</a:t>
            </a:r>
            <a:endParaRPr lang="en-IN" sz="1200" b="1">
              <a:solidFill>
                <a:srgbClr val="1F3A5F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98500" y="1079500"/>
            <a:ext cx="5143500" cy="4508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DA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6350000" y="1079500"/>
            <a:ext cx="5143500" cy="4508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A6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990600" y="1320800"/>
            <a:ext cx="457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 smtClean="0">
                <a:solidFill>
                  <a:srgbClr val="1F3A5F"/>
                </a:solidFill>
                <a:latin typeface="Poppins"/>
              </a:rPr>
              <a:t>Conclusion</a:t>
            </a:r>
            <a:endParaRPr lang="en-IN" b="1">
              <a:solidFill>
                <a:srgbClr val="1F3A5F"/>
              </a:solidFill>
              <a:latin typeface="Poppi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52500" y="1752600"/>
            <a:ext cx="4572000" cy="159017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400" smtClean="0">
                <a:solidFill>
                  <a:srgbClr val="1E2A36"/>
                </a:solidFill>
                <a:latin typeface="Calibri" panose="020F0502020204030204" pitchFamily="34" charset="0"/>
              </a:rPr>
              <a:t>- The platform modernizes auctions through a structured SDLC implementation.</a:t>
            </a:r>
          </a:p>
          <a:p>
            <a:pPr>
              <a:spcAft>
                <a:spcPts val="800"/>
              </a:spcAft>
            </a:pPr>
            <a:r>
              <a:rPr lang="en-US" sz="1400" smtClean="0">
                <a:solidFill>
                  <a:srgbClr val="1E2A36"/>
                </a:solidFill>
                <a:latin typeface="Calibri" panose="020F0502020204030204" pitchFamily="34" charset="0"/>
              </a:rPr>
              <a:t>- It improves transparency, efficiency, and trust among participants.</a:t>
            </a:r>
          </a:p>
          <a:p>
            <a:pPr>
              <a:spcAft>
                <a:spcPts val="800"/>
              </a:spcAft>
            </a:pPr>
            <a:r>
              <a:rPr lang="en-US" sz="1400" smtClean="0">
                <a:solidFill>
                  <a:srgbClr val="1E2A36"/>
                </a:solidFill>
                <a:latin typeface="Calibri" panose="020F0502020204030204" pitchFamily="34" charset="0"/>
              </a:rPr>
              <a:t>- Automated bidding and winner declaration reduce manual errors.</a:t>
            </a:r>
            <a:endParaRPr lang="en-IN" sz="1400">
              <a:solidFill>
                <a:srgbClr val="1E2A36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42100" y="1320800"/>
            <a:ext cx="457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 smtClean="0">
                <a:solidFill>
                  <a:srgbClr val="1F3A5F"/>
                </a:solidFill>
                <a:latin typeface="Poppins"/>
              </a:rPr>
              <a:t>Future Scope</a:t>
            </a:r>
            <a:endParaRPr lang="en-IN" b="1">
              <a:solidFill>
                <a:srgbClr val="1F3A5F"/>
              </a:solidFill>
              <a:latin typeface="Poppi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04000" y="1752600"/>
            <a:ext cx="4572000" cy="126188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400" smtClean="0">
                <a:solidFill>
                  <a:srgbClr val="1E2A36"/>
                </a:solidFill>
                <a:latin typeface="Calibri" panose="020F0502020204030204" pitchFamily="34" charset="0"/>
              </a:rPr>
              <a:t>- Develop a full-featured mobile application.</a:t>
            </a:r>
          </a:p>
          <a:p>
            <a:pPr>
              <a:spcAft>
                <a:spcPts val="800"/>
              </a:spcAft>
            </a:pPr>
            <a:r>
              <a:rPr lang="en-US" sz="1400" smtClean="0">
                <a:solidFill>
                  <a:srgbClr val="1E2A36"/>
                </a:solidFill>
                <a:latin typeface="Calibri" panose="020F0502020204030204" pitchFamily="34" charset="0"/>
              </a:rPr>
              <a:t>- Add AI-based fraud detection capabilities.</a:t>
            </a:r>
          </a:p>
          <a:p>
            <a:pPr>
              <a:spcAft>
                <a:spcPts val="800"/>
              </a:spcAft>
            </a:pPr>
            <a:r>
              <a:rPr lang="en-US" sz="1400" smtClean="0">
                <a:solidFill>
                  <a:srgbClr val="1E2A36"/>
                </a:solidFill>
                <a:latin typeface="Calibri" panose="020F0502020204030204" pitchFamily="34" charset="0"/>
              </a:rPr>
              <a:t>- Integrate real-time push notifications.</a:t>
            </a:r>
          </a:p>
          <a:p>
            <a:pPr>
              <a:spcAft>
                <a:spcPts val="800"/>
              </a:spcAft>
            </a:pPr>
            <a:r>
              <a:rPr lang="en-US" sz="1400" smtClean="0">
                <a:solidFill>
                  <a:srgbClr val="1E2A36"/>
                </a:solidFill>
                <a:latin typeface="Calibri" panose="020F0502020204030204" pitchFamily="34" charset="0"/>
              </a:rPr>
              <a:t>- Explore blockchain-based secure auctions.</a:t>
            </a:r>
            <a:endParaRPr lang="en-IN" sz="1400">
              <a:solidFill>
                <a:srgbClr val="1E2A36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16500" y="5867400"/>
            <a:ext cx="2159000" cy="431800"/>
          </a:xfrm>
          <a:prstGeom prst="roundRect">
            <a:avLst/>
          </a:prstGeom>
          <a:solidFill>
            <a:srgbClr val="1F3A5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5016500" y="5956300"/>
            <a:ext cx="2159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b="1" smtClean="0">
                <a:solidFill>
                  <a:srgbClr val="FFFFFF"/>
                </a:solidFill>
                <a:latin typeface="Poppins"/>
              </a:rPr>
              <a:t>Thank You</a:t>
            </a:r>
            <a:endParaRPr lang="en-IN" b="1">
              <a:solidFill>
                <a:srgbClr val="FFFFFF"/>
              </a:solidFill>
              <a:latin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58500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531</Words>
  <Application>Microsoft Office PowerPoint</Application>
  <PresentationFormat>Custom</PresentationFormat>
  <Paragraphs>115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Montserrat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</cp:revision>
  <dcterms:created xsi:type="dcterms:W3CDTF">2026-04-20T14:44:13Z</dcterms:created>
  <dcterms:modified xsi:type="dcterms:W3CDTF">2026-04-20T14:44:13Z</dcterms:modified>
</cp:coreProperties>
</file>